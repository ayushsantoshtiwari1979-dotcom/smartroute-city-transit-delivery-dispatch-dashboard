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732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769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184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394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514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422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677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2317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746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725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2093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408993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6078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0555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7355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1112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141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47788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  <p:sldLayoutId id="2147483845" r:id="rId12"/>
    <p:sldLayoutId id="2147483846" r:id="rId13"/>
    <p:sldLayoutId id="2147483847" r:id="rId14"/>
    <p:sldLayoutId id="2147483848" r:id="rId15"/>
    <p:sldLayoutId id="2147483849" r:id="rId16"/>
    <p:sldLayoutId id="2147483850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sz="5500" b="1" u="sng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SmartRoute</a:t>
            </a:r>
            <a:r>
              <a:rPr sz="55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br>
              <a:rPr lang="en-US" sz="5500" b="1" dirty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sz="5000" b="1" dirty="0">
                <a:solidFill>
                  <a:schemeClr val="tx2">
                    <a:lumMod val="75000"/>
                  </a:schemeClr>
                </a:solidFill>
              </a:rPr>
              <a:t>City Transit &amp; Delivery Dispatch Dashboard</a:t>
            </a:r>
            <a:endParaRPr sz="5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sz="2000" i="1" dirty="0">
                <a:solidFill>
                  <a:srgbClr val="002060"/>
                </a:solidFill>
              </a:rPr>
              <a:t>A Data Structures and Algorithms (DSA) Project</a:t>
            </a:r>
            <a:r>
              <a:rPr lang="en-US" sz="2000" i="1" dirty="0">
                <a:solidFill>
                  <a:srgbClr val="002060"/>
                </a:solidFill>
              </a:rPr>
              <a:t> &amp; </a:t>
            </a:r>
            <a:r>
              <a:rPr sz="2000" i="1" dirty="0">
                <a:solidFill>
                  <a:srgbClr val="002060"/>
                </a:solidFill>
              </a:rPr>
              <a:t>Optimizing Dispatch &amp; Routing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>
                <a:solidFill>
                  <a:schemeClr val="tx2">
                    <a:lumMod val="75000"/>
                  </a:schemeClr>
                </a:solidFill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8436" y="877574"/>
            <a:ext cx="6711654" cy="4195481"/>
          </a:xfrm>
        </p:spPr>
        <p:txBody>
          <a:bodyPr>
            <a:noAutofit/>
          </a:bodyPr>
          <a:lstStyle/>
          <a:p>
            <a:endParaRPr dirty="0"/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rPr dirty="0"/>
              <a:t>What is SmartRoute?</a:t>
            </a:r>
          </a:p>
          <a:p>
            <a:pPr lvl="1">
              <a:spcAft>
                <a:spcPts val="1400"/>
              </a:spcAft>
              <a:defRPr sz="1800">
                <a:solidFill>
                  <a:srgbClr val="475569"/>
                </a:solidFill>
              </a:defRPr>
            </a:pPr>
            <a:r>
              <a:rPr sz="2000" dirty="0">
                <a:solidFill>
                  <a:srgbClr val="002060"/>
                </a:solidFill>
              </a:rPr>
              <a:t>An interactive, enterprise-grade fleet management dashboard built to visualize and manage pan-India logistics.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rPr dirty="0"/>
              <a:t>Core Objective</a:t>
            </a:r>
          </a:p>
          <a:p>
            <a:pPr lvl="1">
              <a:spcAft>
                <a:spcPts val="1400"/>
              </a:spcAft>
              <a:defRPr sz="1800">
                <a:solidFill>
                  <a:srgbClr val="475569"/>
                </a:solidFill>
              </a:defRPr>
            </a:pPr>
            <a:r>
              <a:rPr sz="2000" dirty="0">
                <a:solidFill>
                  <a:srgbClr val="002060"/>
                </a:solidFill>
              </a:rPr>
              <a:t>To practically implement theoretical DSA concepts (Graphs, Min-Heaps) in solving real-world routing and dispatch prioritization problems.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rPr dirty="0"/>
              <a:t>Scale &amp; Scope</a:t>
            </a:r>
          </a:p>
          <a:p>
            <a:pPr lvl="1">
              <a:defRPr sz="1800">
                <a:solidFill>
                  <a:srgbClr val="475569"/>
                </a:solidFill>
              </a:defRPr>
            </a:pPr>
            <a:r>
              <a:rPr sz="2000" dirty="0">
                <a:solidFill>
                  <a:srgbClr val="002060"/>
                </a:solidFill>
              </a:rPr>
              <a:t>Manages deliveries across 115+ Indian cities, dynamically calculating optimal paths, estimated costs, and real-time ETAs.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>
                <a:solidFill>
                  <a:schemeClr val="tx2">
                    <a:lumMod val="75000"/>
                  </a:schemeClr>
                </a:solidFill>
              </a:rPr>
              <a:t>Key DSA Concepts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rPr dirty="0"/>
              <a:t>Dijkstra's Algorithm (Graph Theory)</a:t>
            </a:r>
          </a:p>
          <a:p>
            <a:pPr lvl="1">
              <a:spcAft>
                <a:spcPts val="1400"/>
              </a:spcAft>
              <a:defRPr sz="1800">
                <a:solidFill>
                  <a:srgbClr val="475569"/>
                </a:solidFill>
              </a:defRPr>
            </a:pPr>
            <a:r>
              <a:rPr dirty="0">
                <a:solidFill>
                  <a:srgbClr val="002060"/>
                </a:solidFill>
              </a:rPr>
              <a:t>Computes the shortest and most cost-effective path from the Headquarters to any destination hub. Edge weights dynamically adapt to simulated traffic and weather conditions.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rPr dirty="0"/>
              <a:t>Priority Queue (Min-Heap Array Logic)</a:t>
            </a:r>
          </a:p>
          <a:p>
            <a:pPr lvl="1">
              <a:defRPr sz="1800">
                <a:solidFill>
                  <a:srgbClr val="475569"/>
                </a:solidFill>
              </a:defRPr>
            </a:pPr>
            <a:r>
              <a:rPr dirty="0">
                <a:solidFill>
                  <a:srgbClr val="002060"/>
                </a:solidFill>
              </a:rPr>
              <a:t>Dynamically sorts and manages pending orders based on urgency levels (P1-Urgent, P2-Express, P3-Standard). Ensures emergency deliveries are dispatched first.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19760" y="284480"/>
            <a:ext cx="5144357" cy="6309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rPr lang="en-US" sz="3500" b="1" u="sng" dirty="0">
                <a:solidFill>
                  <a:schemeClr val="tx2">
                    <a:lumMod val="75000"/>
                  </a:schemeClr>
                </a:solidFill>
              </a:rPr>
              <a:t>Live Dispatch Map &amp; UI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9A9271-E99F-F099-010D-12EF1B302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760" y="1236133"/>
            <a:ext cx="7904480" cy="4940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360506"/>
            <a:ext cx="6928500" cy="6309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rPr sz="3500" b="1" u="sng" dirty="0">
                <a:solidFill>
                  <a:schemeClr val="tx2">
                    <a:lumMod val="75000"/>
                  </a:schemeClr>
                </a:solidFill>
              </a:rPr>
              <a:t>Dynamic Route Analytics &amp; ETA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739DE2-C389-0EBE-1850-634A96608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493" y="1308099"/>
            <a:ext cx="7769014" cy="485563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u="sng" dirty="0">
                <a:solidFill>
                  <a:schemeClr val="tx2">
                    <a:lumMod val="75000"/>
                  </a:schemeClr>
                </a:solidFill>
              </a:rPr>
              <a:t>Advanced Features &amp; Visual Simulations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8436" y="1604192"/>
            <a:ext cx="6711654" cy="4195481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IN" sz="1800" dirty="0"/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rPr sz="1800" dirty="0"/>
              <a:t>Real-World Traffic &amp; Weather Toggles</a:t>
            </a:r>
          </a:p>
          <a:p>
            <a:pPr lvl="1">
              <a:spcAft>
                <a:spcPts val="1400"/>
              </a:spcAft>
              <a:defRPr sz="1800">
                <a:solidFill>
                  <a:srgbClr val="475569"/>
                </a:solidFill>
              </a:defRPr>
            </a:pPr>
            <a:r>
              <a:rPr dirty="0">
                <a:solidFill>
                  <a:srgbClr val="002060"/>
                </a:solidFill>
              </a:rPr>
              <a:t>Simulates roadblocks and storms by dynamically increasing graph edge weights, altering the ETA, speed, and cost of routes in real-time. Displays visual glow zones on the map.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rPr sz="1800" dirty="0"/>
              <a:t>Batch Dispatching &amp; Fleet Engine</a:t>
            </a:r>
          </a:p>
          <a:p>
            <a:pPr lvl="1">
              <a:spcAft>
                <a:spcPts val="1400"/>
              </a:spcAft>
              <a:defRPr sz="1800">
                <a:solidFill>
                  <a:srgbClr val="475569"/>
                </a:solidFill>
              </a:defRPr>
            </a:pPr>
            <a:r>
              <a:rPr dirty="0">
                <a:solidFill>
                  <a:srgbClr val="002060"/>
                </a:solidFill>
              </a:rPr>
              <a:t>Auto-assigns the top priority orders to available fleet vehicles. Features automated fuel tracking and status updates (Idle vs. In Transit).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rPr sz="1800" dirty="0"/>
              <a:t>Comprehensive Export</a:t>
            </a:r>
          </a:p>
          <a:p>
            <a:pPr lvl="1">
              <a:defRPr sz="1800">
                <a:solidFill>
                  <a:srgbClr val="475569"/>
                </a:solidFill>
              </a:defRPr>
            </a:pPr>
            <a:r>
              <a:rPr dirty="0">
                <a:solidFill>
                  <a:srgbClr val="002060"/>
                </a:solidFill>
              </a:rPr>
              <a:t>One-click CSV export functionality that downloads highly detailed dispatch history reports directly to the user's local machine.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33306" y="342902"/>
            <a:ext cx="4801314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rPr b="1" u="sng" dirty="0">
                <a:solidFill>
                  <a:schemeClr val="tx2">
                    <a:lumMod val="75000"/>
                  </a:schemeClr>
                </a:solidFill>
              </a:rPr>
              <a:t>Performance Analytics</a:t>
            </a:r>
            <a:r>
              <a:rPr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  <a:p>
            <a:pPr>
              <a:defRPr sz="3200" b="1">
                <a:solidFill>
                  <a:srgbClr val="1E40AF"/>
                </a:solidFill>
              </a:defRPr>
            </a:pPr>
            <a:r>
              <a:rPr lang="en-IN" b="1" dirty="0">
                <a:solidFill>
                  <a:schemeClr val="tx2">
                    <a:lumMod val="75000"/>
                  </a:schemeClr>
                </a:solidFill>
              </a:rPr>
              <a:t>  </a:t>
            </a:r>
            <a:r>
              <a:rPr b="1" dirty="0">
                <a:solidFill>
                  <a:schemeClr val="tx2">
                    <a:lumMod val="75000"/>
                  </a:schemeClr>
                </a:solidFill>
              </a:rPr>
              <a:t>(Smooth Line Graph)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CE98E7-B5D3-04FC-C419-22A424501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306" y="1583265"/>
            <a:ext cx="7877387" cy="49233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535430"/>
            <a:ext cx="7135287" cy="63094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40AF"/>
                </a:solidFill>
              </a:defRPr>
            </a:pPr>
            <a:r>
              <a:rPr sz="3500" u="sng" dirty="0">
                <a:solidFill>
                  <a:schemeClr val="tx2">
                    <a:lumMod val="75000"/>
                  </a:schemeClr>
                </a:solidFill>
              </a:rPr>
              <a:t>Dispatch History &amp; Detailed Logs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D73220-6248-C8E2-5319-AE202A954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700" y="1408641"/>
            <a:ext cx="8102600" cy="50641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>
                <a:solidFill>
                  <a:schemeClr val="tx2">
                    <a:lumMod val="75000"/>
                  </a:schemeClr>
                </a:solidFill>
              </a:rP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992116"/>
            <a:ext cx="6711654" cy="4195481"/>
          </a:xfrm>
        </p:spPr>
        <p:txBody>
          <a:bodyPr>
            <a:noAutofit/>
          </a:bodyPr>
          <a:lstStyle/>
          <a:p>
            <a:endParaRPr dirty="0"/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rPr dirty="0"/>
              <a:t>Frontend Interface &amp; Styling</a:t>
            </a:r>
          </a:p>
          <a:p>
            <a:pPr lvl="1">
              <a:spcAft>
                <a:spcPts val="1400"/>
              </a:spcAft>
              <a:defRPr sz="1800">
                <a:solidFill>
                  <a:srgbClr val="475569"/>
                </a:solidFill>
              </a:defRPr>
            </a:pPr>
            <a:r>
              <a:rPr sz="2000" dirty="0">
                <a:solidFill>
                  <a:srgbClr val="002060"/>
                </a:solidFill>
              </a:rPr>
              <a:t>HTML5, Tailwind CSS, and </a:t>
            </a:r>
            <a:r>
              <a:rPr lang="en-IN" sz="2000" dirty="0">
                <a:solidFill>
                  <a:srgbClr val="002060"/>
                </a:solidFill>
              </a:rPr>
              <a:t>Font Awesome</a:t>
            </a:r>
            <a:r>
              <a:rPr sz="2000" dirty="0">
                <a:solidFill>
                  <a:srgbClr val="002060"/>
                </a:solidFill>
              </a:rPr>
              <a:t> used to create a sleek, responsive, dark-themed command center UI.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rPr dirty="0"/>
              <a:t>Mapping &amp; Data Visualization</a:t>
            </a:r>
          </a:p>
          <a:p>
            <a:pPr lvl="1">
              <a:spcAft>
                <a:spcPts val="1400"/>
              </a:spcAft>
              <a:defRPr sz="1800">
                <a:solidFill>
                  <a:srgbClr val="475569"/>
                </a:solidFill>
              </a:defRPr>
            </a:pPr>
            <a:r>
              <a:rPr sz="2000" dirty="0">
                <a:solidFill>
                  <a:srgbClr val="002060"/>
                </a:solidFill>
              </a:rPr>
              <a:t>Leaflet.js configured with OpenStreetMap tiles for zero-API-cost mapping, and Chart.js for rendering smooth gradient performance analytics.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rPr dirty="0"/>
              <a:t>Core Algorithms &amp; Backend Logic</a:t>
            </a:r>
          </a:p>
          <a:p>
            <a:pPr lvl="1">
              <a:defRPr sz="1800">
                <a:solidFill>
                  <a:srgbClr val="475569"/>
                </a:solidFill>
              </a:defRPr>
            </a:pPr>
            <a:r>
              <a:rPr sz="2000" dirty="0">
                <a:solidFill>
                  <a:srgbClr val="002060"/>
                </a:solidFill>
              </a:rPr>
              <a:t>100% Vanilla JavaScript handling custom Graph construction, Min-Heap arrays, state management, and real-time clock mechanics.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39</TotalTime>
  <Words>349</Words>
  <Application>Microsoft Office PowerPoint</Application>
  <PresentationFormat>On-screen Show (4:3)</PresentationFormat>
  <Paragraphs>37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Century Gothic</vt:lpstr>
      <vt:lpstr>Wingdings 3</vt:lpstr>
      <vt:lpstr>Ion</vt:lpstr>
      <vt:lpstr>SmartRoute:  City Transit &amp; Delivery Dispatch Dashboard</vt:lpstr>
      <vt:lpstr>Project Overview</vt:lpstr>
      <vt:lpstr>Key DSA Concepts Implemented</vt:lpstr>
      <vt:lpstr>PowerPoint Presentation</vt:lpstr>
      <vt:lpstr>PowerPoint Presentation</vt:lpstr>
      <vt:lpstr>Advanced Features &amp; Visual Simulations</vt:lpstr>
      <vt:lpstr>PowerPoint Presentation</vt:lpstr>
      <vt:lpstr>PowerPoint Presentation</vt:lpstr>
      <vt:lpstr>Technology Stack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Ayush Tiwari</cp:lastModifiedBy>
  <cp:revision>13</cp:revision>
  <dcterms:created xsi:type="dcterms:W3CDTF">2013-01-27T09:14:16Z</dcterms:created>
  <dcterms:modified xsi:type="dcterms:W3CDTF">2026-10-17T14:10:17Z</dcterms:modified>
  <cp:category/>
</cp:coreProperties>
</file>